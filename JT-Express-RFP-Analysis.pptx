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极兔速递 · 全球业财中台项目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0E6FF"/>
                </a:solidFill>
              </a:rPr>
              <a:t>D365 Finance &amp; Operations + 微软产品适配性分析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0A0"/>
                </a:solidFill>
              </a:rPr>
              <a:t>Microsoft Confidential  |  2026-04-07  |  v2.0 含中肯评判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2050"/>
                </a:solidFill>
              </a:rPr>
              <a:t>执行摘要 — 适配度评分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7C10"/>
                </a:solidFill>
              </a:rPr>
              <a:t>78%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</a:rPr>
              <a:t>应收管理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7C10"/>
                </a:solidFill>
              </a:rP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</a:rPr>
              <a:t>会计引擎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A5010"/>
                </a:solidFill>
              </a:rPr>
              <a:t>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</a:rPr>
              <a:t>分析引擎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7C10"/>
                </a:solidFill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</a:rPr>
              <a:t>全球化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13438"/>
                </a:solidFill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</a:rPr>
              <a:t>技术架构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78D4"/>
                </a:solidFill>
              </a:rPr>
              <a:t>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</a:rPr>
              <a:t>综合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2050"/>
                </a:solidFill>
              </a:rPr>
              <a:t>核心结论：功能层面高度匹配（会计引擎85%、全球化90%），但技术架构45%因RFP明确指定Java/私有云/源码交付与D365 SaaS存在结构性差距。</a:t>
            </a:r>
          </a:p>
          <a:p>
            <a:pPr/>
            <a:r>
              <a:rPr sz="1800" b="1">
                <a:solidFill>
                  <a:srgbClr val="D13438"/>
                </a:solidFill>
              </a:rPr>
              <a:t>赢单概率评估：10~15%  — 三重结构性劣势</a:t>
            </a:r>
          </a:p>
          <a:p>
            <a:pPr/>
            <a:r>
              <a:rPr sz="1400" b="0">
                <a:solidFill>
                  <a:srgbClr val="D13438"/>
                </a:solidFill>
              </a:rPr>
              <a:t>劣势1：RFP为天象平台量身定制，技术硬指标不可协商</a:t>
            </a:r>
          </a:p>
          <a:p>
            <a:pPr/>
            <a:r>
              <a:rPr sz="1400" b="0">
                <a:solidFill>
                  <a:srgbClr val="D13438"/>
                </a:solidFill>
              </a:rPr>
              <a:t>劣势2：用友BIP是现有供应商（NCC=用友），Incumbent Advantage极高</a:t>
            </a:r>
          </a:p>
          <a:p>
            <a:pPr/>
            <a:r>
              <a:rPr sz="1400" b="0">
                <a:solidFill>
                  <a:srgbClr val="D13438"/>
                </a:solidFill>
              </a:rPr>
              <a:t>劣势3：D365在中国/东南亚快递行业无标杆案例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2050"/>
                </a:solidFill>
              </a:rPr>
              <a:t>技术架构适配 — 结构性冲突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50"/>
                </a:solidFill>
              </a:rPr>
              <a:t>后端 Java + 微服务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</a:rPr>
              <a:t>.NET / X++ / Azure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188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13438"/>
                </a:solidFill>
              </a:rPr>
              <a:t>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50"/>
                </a:solidFill>
              </a:rPr>
              <a:t>MySQL/PolarDB/TiDB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00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</a:rPr>
              <a:t>Azure SQL Database (固定)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00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13438"/>
                </a:solidFill>
              </a:rPr>
              <a:t>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50"/>
                </a:solidFill>
              </a:rPr>
              <a:t>全量源代码交付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</a:rPr>
              <a:t>Extension 扩展模型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13438"/>
                </a:solidFill>
              </a:rPr>
              <a:t>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50"/>
                </a:solidFill>
              </a:rPr>
              <a:t>私有云 K8s 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</a:rPr>
              <a:t>Azure SaaS / 世纪互联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13438"/>
                </a:solidFill>
              </a:rPr>
              <a:t>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50"/>
                </a:solidFill>
              </a:rPr>
              <a:t>HDFS/Hive/Doris 同步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</a:rPr>
              <a:t>Synapse Link → Data Lake → ETL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834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A5010"/>
                </a:solidFill>
              </a:rPr>
              <a:t>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50"/>
                </a:solidFill>
              </a:rPr>
              <a:t>HTTPS / RBAC / 等保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</a:rPr>
              <a:t>Azure 默认 TLS1.2+ / Entra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7C10"/>
                </a:solidFill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050"/>
                </a:solidFill>
              </a:rPr>
              <a:t>弹性伸缩 / 容灾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5E5C"/>
                </a:solidFill>
              </a:rPr>
              <a:t>Azure Auto Scaling / 多区域 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657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7C10"/>
                </a:solidFill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13438"/>
                </a:solidFill>
              </a:rPr>
              <a:t>结论：10项技术要求中 4项不匹配（Java/数据库/源码/私有云）= 天象平台硬指标。
D365可能在技术初审阶段被直接淘汰。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7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13438"/>
                </a:solidFill>
              </a:rPr>
              <a:t>天象平台深度绑定 — 根本性矛盾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050"/>
                </a:solidFill>
              </a:rPr>
              <a:t>RFP技术标准不是通用供应商筛选，而是天象平台生态的准入门槛</a:t>
            </a:r>
          </a:p>
          <a:p>
            <a:pPr/>
            <a:r>
              <a:rPr sz="1500" b="0">
                <a:solidFill>
                  <a:srgbClr val="D13438"/>
                </a:solidFill>
              </a:rPr>
              <a:t>天象微服务注册中心：D365 SaaS 不支持拆分为微服务注册 ✘</a:t>
            </a:r>
          </a:p>
          <a:p>
            <a:pPr/>
            <a:r>
              <a:rPr sz="1500" b="0">
                <a:solidFill>
                  <a:srgbClr val="D13438"/>
                </a:solidFill>
              </a:rPr>
              <a:t>天象前端组件规范：D365 有自己的UI框架 ✘</a:t>
            </a:r>
          </a:p>
          <a:p>
            <a:pPr/>
            <a:r>
              <a:rPr sz="1500" b="0">
                <a:solidFill>
                  <a:srgbClr val="D13438"/>
                </a:solidFill>
              </a:rPr>
              <a:t>天象 K8s 集群部署：D365 不支持私有化容器部署 ✘</a:t>
            </a:r>
          </a:p>
          <a:p>
            <a:pPr/>
            <a:r>
              <a:rPr sz="1500" b="0">
                <a:solidFill>
                  <a:srgbClr val="CA5010"/>
                </a:solidFill>
              </a:rPr>
              <a:t>天象监控 Prometheus/Grafana：Azure Monitor 可导出但无法直接接入 ◐</a:t>
            </a:r>
          </a:p>
          <a:p>
            <a:pPr/>
            <a:r>
              <a:rPr sz="1500" b="0">
                <a:solidFill>
                  <a:srgbClr val="CA5010"/>
                </a:solidFill>
              </a:rPr>
              <a:t>天象大数据 HDFS/Hive/Doris：Synapse Link 可桥接但非原生集成 ◐</a:t>
            </a:r>
          </a:p>
          <a:p>
            <a:pPr/>
            <a:r>
              <a:rPr sz="800" b="0">
                <a:solidFill>
                  <a:srgbClr val="002050"/>
                </a:solidFill>
              </a:rPr>
              <a:t> </a:t>
            </a:r>
          </a:p>
          <a:p>
            <a:pPr/>
            <a:r>
              <a:rPr sz="1600" b="1">
                <a:solidFill>
                  <a:srgbClr val="002050"/>
                </a:solidFill>
              </a:rPr>
              <a:t>本质：极兔希望业财系统成为天象"内部模块"</a:t>
            </a:r>
          </a:p>
          <a:p>
            <a:pPr/>
            <a:r>
              <a:rPr sz="1600" b="1">
                <a:solidFill>
                  <a:srgbClr val="002050"/>
                </a:solidFill>
              </a:rPr>
              <a:t>而 D365 是独立 SaaS ERP → 存在根本性矛盾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2050"/>
                </a:solidFill>
              </a:rPr>
              <a:t>海量订单性能 — ERP定位的本质局限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13438"/>
                </a:solidFill>
              </a:rPr>
              <a:t>D365 F&amp;O 是 ERP，不是高频交易引擎</a:t>
            </a:r>
          </a:p>
          <a:p>
            <a:pPr/>
            <a:r>
              <a:rPr sz="1500" b="1">
                <a:solidFill>
                  <a:srgbClr val="002050"/>
                </a:solidFill>
              </a:rPr>
              <a:t>日峰值运单：1亿票</a:t>
            </a:r>
          </a:p>
          <a:p>
            <a:pPr lvl="1"/>
            <a:r>
              <a:rPr sz="1300" b="0">
                <a:solidFill>
                  <a:srgbClr val="605E5C"/>
                </a:solidFill>
              </a:rPr>
              <a:t>→ D365设计面向百万级  ✘ 数量级差距</a:t>
            </a:r>
          </a:p>
          <a:p>
            <a:pPr/>
            <a:r>
              <a:rPr sz="1500" b="1">
                <a:solidFill>
                  <a:srgbClr val="002050"/>
                </a:solidFill>
              </a:rPr>
              <a:t>年度凭证：1亿行（汇聚后）</a:t>
            </a:r>
          </a:p>
          <a:p>
            <a:pPr lvl="1"/>
            <a:r>
              <a:rPr sz="1300" b="0">
                <a:solidFill>
                  <a:srgbClr val="605E5C"/>
                </a:solidFill>
              </a:rPr>
              <a:t>→ D365大型部署千万~亿级  ◐ 可行</a:t>
            </a:r>
          </a:p>
          <a:p>
            <a:pPr/>
            <a:r>
              <a:rPr sz="1500" b="1">
                <a:solidFill>
                  <a:srgbClr val="002050"/>
                </a:solidFill>
              </a:rPr>
              <a:t>年度单据：1千万（汇聚后）</a:t>
            </a:r>
          </a:p>
          <a:p>
            <a:pPr lvl="1"/>
            <a:r>
              <a:rPr sz="1300" b="0">
                <a:solidFill>
                  <a:srgbClr val="605E5C"/>
                </a:solidFill>
              </a:rPr>
              <a:t>→ D365常见规模  ● 可行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</a:rPr>
              <a:t>关键认知</a:t>
            </a:r>
          </a:p>
          <a:p>
            <a:pPr/>
            <a:r>
              <a:rPr sz="1400" b="0">
                <a:solidFill>
                  <a:srgbClr val="002050"/>
                </a:solidFill>
              </a:rPr>
              <a:t>NCC处理的也是汇聚后数据（1亿票→1千万单据）</a:t>
            </a:r>
          </a:p>
          <a:p>
            <a:pPr/>
            <a:r>
              <a:rPr sz="1400" b="0">
                <a:solidFill>
                  <a:srgbClr val="002050"/>
                </a:solidFill>
              </a:rPr>
              <a:t>说明架构本身是 JMS汇聚→财务系统 模式</a:t>
            </a:r>
          </a:p>
          <a:p>
            <a:pPr/>
            <a:r>
              <a:rPr sz="1400" b="1">
                <a:solidFill>
                  <a:srgbClr val="107C10"/>
                </a:solidFill>
              </a:rPr>
              <a:t>D365在同等汇聚条件下不弱于用友BIP</a:t>
            </a:r>
          </a:p>
          <a:p>
            <a:pPr/>
            <a:r>
              <a:rPr sz="800" b="0">
                <a:solidFill>
                  <a:srgbClr val="002050"/>
                </a:solidFill>
              </a:rPr>
              <a:t/>
            </a:r>
          </a:p>
          <a:p>
            <a:pPr/>
            <a:r>
              <a:rPr sz="1400" b="1">
                <a:solidFill>
                  <a:srgbClr val="CA5010"/>
                </a:solidFill>
              </a:rPr>
              <a:t>但双11峰值需要Microsoft专项支持</a:t>
            </a:r>
          </a:p>
          <a:p>
            <a:pPr/>
            <a:r>
              <a:rPr sz="1400" b="0">
                <a:solidFill>
                  <a:srgbClr val="CA5010"/>
                </a:solidFill>
              </a:rPr>
              <a:t>SaaS租户资源上限受限于License和MS配额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2050"/>
                </a:solidFill>
              </a:rPr>
              <a:t>物流快递行业适配 — 案例与功能短板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13438"/>
                </a:solidFill>
              </a:rPr>
              <a:t>D365 在快递行业的弱势</a:t>
            </a:r>
          </a:p>
          <a:p>
            <a:pPr/>
            <a:r>
              <a:rPr sz="1400" b="0">
                <a:solidFill>
                  <a:srgbClr val="D13438"/>
                </a:solidFill>
              </a:rPr>
              <a:t>运单计费结算 — 无原生支持</a:t>
            </a:r>
          </a:p>
          <a:p>
            <a:pPr/>
            <a:r>
              <a:rPr sz="1400" b="0">
                <a:solidFill>
                  <a:srgbClr val="D13438"/>
                </a:solidFill>
              </a:rPr>
              <a:t>揽/转/运/派事件→凭证 — 需全定制</a:t>
            </a:r>
          </a:p>
          <a:p>
            <a:pPr/>
            <a:r>
              <a:rPr sz="1400" b="0">
                <a:solidFill>
                  <a:srgbClr val="D13438"/>
                </a:solidFill>
              </a:rPr>
              <a:t>单票成本归集 — 非设计目标</a:t>
            </a:r>
          </a:p>
          <a:p>
            <a:pPr/>
            <a:r>
              <a:rPr sz="1400" b="0">
                <a:solidFill>
                  <a:srgbClr val="D13438"/>
                </a:solidFill>
              </a:rPr>
              <a:t>代收货款(COD) — 无原生模块</a:t>
            </a:r>
          </a:p>
          <a:p>
            <a:pPr/>
            <a:r>
              <a:rPr sz="1400" b="0">
                <a:solidFill>
                  <a:srgbClr val="D13438"/>
                </a:solidFill>
              </a:rPr>
              <a:t>中国/东南亚快递 — 无标杆案例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7C10"/>
                </a:solidFill>
              </a:rPr>
              <a:t>D365 在全球化上的优势</a:t>
            </a:r>
          </a:p>
          <a:p>
            <a:pPr/>
            <a:r>
              <a:rPr sz="1400" b="0">
                <a:solidFill>
                  <a:srgbClr val="107C10"/>
                </a:solidFill>
              </a:rPr>
              <a:t>多国AR/AP核算 — 原生全球化引擎</a:t>
            </a:r>
          </a:p>
          <a:p>
            <a:pPr/>
            <a:r>
              <a:rPr sz="1400" b="0">
                <a:solidFill>
                  <a:srgbClr val="107C10"/>
                </a:solidFill>
              </a:rPr>
              <a:t>多币种合并报表 — Financial Consolidation</a:t>
            </a:r>
          </a:p>
          <a:p>
            <a:pPr/>
            <a:r>
              <a:rPr sz="1400" b="0">
                <a:solidFill>
                  <a:srgbClr val="107C10"/>
                </a:solidFill>
              </a:rPr>
              <a:t>全球税务合规 — 210+国家/地区</a:t>
            </a:r>
          </a:p>
          <a:p>
            <a:pPr/>
            <a:r>
              <a:rPr sz="1400" b="0">
                <a:solidFill>
                  <a:srgbClr val="107C10"/>
                </a:solidFill>
              </a:rPr>
              <a:t>电子发票 ZATCA/NF-e/CFDI — 产品化方案</a:t>
            </a:r>
          </a:p>
          <a:p>
            <a:pPr/>
            <a:r>
              <a:rPr sz="1400" b="0">
                <a:solidFill>
                  <a:srgbClr val="107C10"/>
                </a:solidFill>
              </a:rPr>
              <a:t>用友BIP海外弱 — D365可作为补充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2050"/>
                </a:solidFill>
              </a:rPr>
              <a:t>竞品对比 — 加权综合评分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13438"/>
                </a:solidFill>
              </a:rPr>
              <a:t>4.2/10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0"/>
                </a:solidFill>
              </a:rPr>
              <a:t>D365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7C10"/>
                </a:solidFill>
              </a:rPr>
              <a:t>7.8/10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0"/>
                </a:solidFill>
              </a:rPr>
              <a:t>用友 BIP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A5010"/>
                </a:solidFill>
              </a:rPr>
              <a:t>6.2/10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0"/>
                </a:solidFill>
              </a:rPr>
              <a:t>金蝶云苍穹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A5010"/>
                </a:solidFill>
              </a:rPr>
              <a:t>4.8/10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2050"/>
                </a:solidFill>
              </a:rPr>
              <a:t>SAP S/4HANA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050"/>
                </a:solidFill>
              </a:rPr>
              <a:t>评审权重分析（天象兼容★★★★★+ 快递行业★★★★★+ 源码交付★★★★= 权重80%+）</a:t>
            </a:r>
          </a:p>
          <a:p>
            <a:pPr/>
            <a:r>
              <a:rPr sz="1500" b="1">
                <a:solidFill>
                  <a:srgbClr val="D13438"/>
                </a:solidFill>
              </a:rPr>
              <a:t>D365 在高权重维度（天象/行业/源码）全面落后</a:t>
            </a:r>
          </a:p>
          <a:p>
            <a:pPr/>
            <a:r>
              <a:rPr sz="1500" b="0">
                <a:solidFill>
                  <a:srgbClr val="CA5010"/>
                </a:solidFill>
              </a:rPr>
              <a:t>D365 优势维度（全球化/AI/合并报表）权重被稀释</a:t>
            </a:r>
          </a:p>
          <a:p>
            <a:pPr/>
            <a:r>
              <a:rPr sz="1500" b="1">
                <a:solidFill>
                  <a:srgbClr val="107C10"/>
                </a:solidFill>
              </a:rPr>
              <a:t>用友BIP: 现有供应商 + 行业案例 + 天象Java兼容 = 全面领先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应标决策 — 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5959"/>
                </a:solidFill>
              </a:rPr>
              <a:t>赢单概率：10~15%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B900"/>
                </a:solidFill>
              </a:rPr>
              <a:t>A: 不应标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技术硬指标不可协商 → 避免2-3人月无效投入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B900"/>
                </a:solidFill>
              </a:rPr>
              <a:t>★★★★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</a:rPr>
              <a:t>B: 战略接触 ← 最推荐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高层拜访极兔CTO/CFO，定位"海外财务合规顾问"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0E6FF"/>
                </a:solidFill>
              </a:rPr>
              <a:t>★★★★★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C: 有条件应标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566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仅针对海外12国提交D365方案，与用友互补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3566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05E5C"/>
                </a:solidFill>
              </a:rPr>
              <a:t>D: 全量应标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仅当极兔重新评估技术栈要求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4206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5E5C"/>
                </a:solidFill>
              </a:rPr>
              <a:t>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0E6FF"/>
                </a:solidFill>
              </a:rPr>
              <a:t>最佳策略：利用RFP建立高层关系，定位"海外财务合规平台"。
用友拿下整体项目后，微软作为海外本地化补充方案进入。
（D365 for Global Subsidiaries + Power BI/Fabric for Global Analytics）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5E5C"/>
                </a:solidFill>
              </a:rPr>
              <a:t>Microsoft Confidential  |  极兔速递业财中台 D365 适配性分析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